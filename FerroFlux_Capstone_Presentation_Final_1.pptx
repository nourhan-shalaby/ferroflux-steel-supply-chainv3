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78" r:id="rId9"/>
    <p:sldId id="263" r:id="rId10"/>
    <p:sldId id="264" r:id="rId11"/>
    <p:sldId id="265" r:id="rId12"/>
    <p:sldId id="266" r:id="rId13"/>
    <p:sldId id="275" r:id="rId14"/>
    <p:sldId id="280" r:id="rId15"/>
    <p:sldId id="281" r:id="rId16"/>
    <p:sldId id="282" r:id="rId17"/>
    <p:sldId id="283" r:id="rId18"/>
    <p:sldId id="284" r:id="rId19"/>
    <p:sldId id="276" r:id="rId20"/>
    <p:sldId id="277" r:id="rId21"/>
    <p:sldId id="267" r:id="rId22"/>
    <p:sldId id="269" r:id="rId23"/>
    <p:sldId id="270" r:id="rId24"/>
    <p:sldId id="271" r:id="rId25"/>
    <p:sldId id="272" r:id="rId26"/>
    <p:sldId id="27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6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20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53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69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.png"/><Relationship Id="rId5" Type="http://schemas.openxmlformats.org/officeDocument/2006/relationships/tags" Target="../tags/tag5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228600"/>
            <a:ext cx="960120" cy="9601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7640" y="182880"/>
            <a:ext cx="1188720" cy="10058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274320"/>
            <a:ext cx="1600200" cy="8229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28600" y="1325880"/>
            <a:ext cx="8686800" cy="228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74320" y="1463040"/>
            <a:ext cx="8595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— Intelligent Steel Supply Chain Analytics Platform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 PRESENTATION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1110996" y="2846070"/>
            <a:ext cx="7086600" cy="1920240"/>
          </a:xfrm>
          <a:prstGeom prst="rect">
            <a:avLst/>
          </a:prstGeom>
          <a:solidFill>
            <a:srgbClr val="0D1F3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110996" y="2846070"/>
            <a:ext cx="64008" cy="192024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3" name="Text 8"/>
          <p:cNvSpPr/>
          <p:nvPr>
            <p:custDataLst>
              <p:tags r:id="rId1"/>
            </p:custDataLst>
          </p:nvPr>
        </p:nvSpPr>
        <p:spPr>
          <a:xfrm>
            <a:off x="1248156" y="2919222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/ Job Profile:</a:t>
            </a:r>
            <a:endParaRPr lang="en-US" sz="1000" dirty="0"/>
          </a:p>
        </p:txBody>
      </p:sp>
      <p:sp>
        <p:nvSpPr>
          <p:cNvPr id="14" name="Text 9"/>
          <p:cNvSpPr/>
          <p:nvPr>
            <p:custDataLst>
              <p:tags r:id="rId2"/>
            </p:custDataLst>
          </p:nvPr>
        </p:nvSpPr>
        <p:spPr>
          <a:xfrm>
            <a:off x="2574036" y="291922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— Big Data Engineering</a:t>
            </a:r>
            <a:endParaRPr lang="en-US" sz="1000" dirty="0"/>
          </a:p>
        </p:txBody>
      </p:sp>
      <p:sp>
        <p:nvSpPr>
          <p:cNvPr id="15" name="Text 10"/>
          <p:cNvSpPr/>
          <p:nvPr>
            <p:custDataLst>
              <p:tags r:id="rId3"/>
            </p:custDataLst>
          </p:nvPr>
        </p:nvSpPr>
        <p:spPr>
          <a:xfrm>
            <a:off x="1248156" y="334899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Team:</a:t>
            </a:r>
            <a:endParaRPr lang="en-US" sz="1000" dirty="0"/>
          </a:p>
        </p:txBody>
      </p:sp>
      <p:sp>
        <p:nvSpPr>
          <p:cNvPr id="16" name="Text 11"/>
          <p:cNvSpPr/>
          <p:nvPr>
            <p:custDataLst>
              <p:tags r:id="rId4"/>
            </p:custDataLst>
          </p:nvPr>
        </p:nvSpPr>
        <p:spPr>
          <a:xfrm>
            <a:off x="2574036" y="3348990"/>
            <a:ext cx="519811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Maram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Mostafa, Nourhan Saber (Team Leader), Hager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Elkahlawy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Haidy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Nageh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Zeinab </a:t>
            </a:r>
            <a:r>
              <a:rPr lang="en-US" sz="10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Elgabalawy</a:t>
            </a: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000" dirty="0"/>
          </a:p>
        </p:txBody>
      </p:sp>
      <p:sp>
        <p:nvSpPr>
          <p:cNvPr id="17" name="Text 12"/>
          <p:cNvSpPr/>
          <p:nvPr>
            <p:custDataLst>
              <p:tags r:id="rId5"/>
            </p:custDataLst>
          </p:nvPr>
        </p:nvSpPr>
        <p:spPr>
          <a:xfrm>
            <a:off x="1248156" y="3778758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</a:t>
            </a:r>
            <a:endParaRPr lang="en-US" sz="1000" dirty="0"/>
          </a:p>
        </p:txBody>
      </p:sp>
      <p:sp>
        <p:nvSpPr>
          <p:cNvPr id="18" name="Text 13"/>
          <p:cNvSpPr/>
          <p:nvPr>
            <p:custDataLst>
              <p:tags r:id="rId6"/>
            </p:custDataLst>
          </p:nvPr>
        </p:nvSpPr>
        <p:spPr>
          <a:xfrm>
            <a:off x="2574036" y="3778758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Rania ElGohary (Supervisor)  /  Dr. Mohamed El Badawi (Track Head)</a:t>
            </a:r>
            <a:endParaRPr lang="en-US" sz="1000" dirty="0"/>
          </a:p>
        </p:txBody>
      </p:sp>
      <p:sp>
        <p:nvSpPr>
          <p:cNvPr id="19" name="Text 14"/>
          <p:cNvSpPr/>
          <p:nvPr>
            <p:custDataLst>
              <p:tags r:id="rId7"/>
            </p:custDataLst>
          </p:nvPr>
        </p:nvSpPr>
        <p:spPr>
          <a:xfrm>
            <a:off x="1248156" y="4208526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Submission:</a:t>
            </a:r>
            <a:endParaRPr lang="en-US" sz="1000" dirty="0"/>
          </a:p>
        </p:txBody>
      </p:sp>
      <p:sp>
        <p:nvSpPr>
          <p:cNvPr id="20" name="Text 15"/>
          <p:cNvSpPr/>
          <p:nvPr>
            <p:custDataLst>
              <p:tags r:id="rId8"/>
            </p:custDataLst>
          </p:nvPr>
        </p:nvSpPr>
        <p:spPr>
          <a:xfrm>
            <a:off x="2574036" y="4208526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8961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961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8961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8961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8105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8105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8680" y="18105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18105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 — FerroFlux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0040" y="27249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7249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68680" y="27249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27249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&amp; Results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0040" y="36393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6393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" y="36393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120" y="36393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 (Architecture &amp; Tech)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663440" y="8961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8961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5212080" y="8961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03520" y="8961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&amp; Market Opportunity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663440" y="18105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18105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212080" y="18105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0" y="18105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663440" y="2724912"/>
            <a:ext cx="502920" cy="62179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2724912"/>
            <a:ext cx="502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212080" y="2724912"/>
            <a:ext cx="3749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33" name="Text 30"/>
          <p:cNvSpPr/>
          <p:nvPr/>
        </p:nvSpPr>
        <p:spPr>
          <a:xfrm>
            <a:off x="5303520" y="2724912"/>
            <a:ext cx="3566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 &amp; Next Steps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Introduction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841248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841248"/>
            <a:ext cx="15544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005840"/>
            <a:ext cx="731520" cy="731520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7200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Maram Mostafa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560320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3120" y="841248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03120" y="841248"/>
            <a:ext cx="15544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14600" y="1005840"/>
            <a:ext cx="731520" cy="731520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1460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148840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Nourhan Saber Shalaby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40280" y="2560320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94760" y="841248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94760" y="841248"/>
            <a:ext cx="15544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206240" y="1005840"/>
            <a:ext cx="731520" cy="731520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0624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840480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Hager Elkahlawy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840480" y="22128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—Orchestration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931920" y="2560320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142744" y="2596896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Backend, Forecasting Models, automation, data generation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486400" y="841248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86400" y="841248"/>
            <a:ext cx="15544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97880" y="1005840"/>
            <a:ext cx="731520" cy="731520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9788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532120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Haidy Nageh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148840" y="22128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/ BE, Forecasting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623560" y="2560320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40480" y="263144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Airflow DAGs</a:t>
            </a:r>
            <a:endParaRPr lang="ar-EG" sz="900" dirty="0">
              <a:solidFill>
                <a:srgbClr val="37474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algn="ctr"/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 Orchestration)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105650" y="803656"/>
            <a:ext cx="1554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178040" y="841248"/>
            <a:ext cx="15544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89520" y="1005840"/>
            <a:ext cx="731520" cy="731520"/>
          </a:xfrm>
          <a:prstGeom prst="ellipse">
            <a:avLst/>
          </a:prstGeom>
          <a:solidFill>
            <a:srgbClr val="1A2D5A"/>
          </a:solidFill>
          <a:ln w="19050">
            <a:solidFill>
              <a:srgbClr val="00AEE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9520" y="1005840"/>
            <a:ext cx="731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7223760" y="18288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Zeinab Elgabalawy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222656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—Dashboard </a:t>
            </a:r>
          </a:p>
        </p:txBody>
      </p:sp>
      <p:sp>
        <p:nvSpPr>
          <p:cNvPr id="44" name="Shape 41"/>
          <p:cNvSpPr/>
          <p:nvPr/>
        </p:nvSpPr>
        <p:spPr>
          <a:xfrm>
            <a:off x="7223760" y="2552954"/>
            <a:ext cx="128016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" y="260146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Golden Layer, Visualization</a:t>
            </a:r>
          </a:p>
        </p:txBody>
      </p:sp>
      <p:sp>
        <p:nvSpPr>
          <p:cNvPr id="46" name="Shape 43"/>
          <p:cNvSpPr/>
          <p:nvPr/>
        </p:nvSpPr>
        <p:spPr>
          <a:xfrm>
            <a:off x="256032" y="4361688"/>
            <a:ext cx="8641080" cy="438912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4379976"/>
            <a:ext cx="8412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 / Track Head:  Dr. Rania ElGohary / Dr. Mohamed El Badawi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10530" y="2601468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Preprocessing, Visualization</a:t>
            </a:r>
          </a:p>
        </p:txBody>
      </p:sp>
      <p:sp>
        <p:nvSpPr>
          <p:cNvPr id="19" name="Text 16"/>
          <p:cNvSpPr/>
          <p:nvPr/>
        </p:nvSpPr>
        <p:spPr>
          <a:xfrm>
            <a:off x="5551170" y="222199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— ETL 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74E8EE2-B661-461C-9E7A-6099C5AF1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926" y="980694"/>
            <a:ext cx="836676" cy="83667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9740242-A9BC-44F4-A20E-0EFE4ED52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980948"/>
            <a:ext cx="841248" cy="84124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A1E4B02-5B76-4089-BEBC-C8FC96DEFA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2066" y="986790"/>
            <a:ext cx="841248" cy="84124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DF2BB99-F910-4B01-9701-95357BEE5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5948" y="980948"/>
            <a:ext cx="841248" cy="84124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91ECFF0-C1C0-4F78-B006-6E92103FA6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9482" y="987552"/>
            <a:ext cx="841248" cy="8412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92340" y="2610612"/>
            <a:ext cx="1303020" cy="6609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Bronze-layer ingestion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292340" y="222097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Engineer — Streaming 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Egyptian steel manufacturers rely on manual spreadsheets, disconnected ERP modules, and informal channels to manage pricing, production, demand, and supplier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Factory operators, procurement managers, and company executives at mid-size producers operating multiple factory plants.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price forecasting, fragmented multi-factory data, reactive supplier management, retrospective KPI reporting, and no automated alerting.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Steel prices, production efficiency, and supplier reliability directly drive procurement cost and production downtime — delays of even one day cost millions of EGP.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Continued delayed decisions, missed cost-saving opportunities, and an inability to detect or respond to anomalies before they escalate into financial losses.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FerroFlux directly targets these six interconnected gaps with real-time data, ML forecasting, and automated alerting.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 &amp; Project Scope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Objectives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O1 — Real-Time Ingestion: Kafka pipeline ingesting market &amp; telemetry events with &lt;5s end-to-end latency to the Gold layer.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O2 — Scalable Medallion ETL: Spark + Airflow Bronze → Silver → Gold pipeline with schema validation and idempotent re-runs.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O3 — Price Forecasting: R² above 0.90 and MAPE below 5% on a 60-day holdout (achieved R²=0.9578, MAPE=1.61%).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O4–O8 — Demand forecasting (R² above 0.75), supplier risk classification (Accuracy above 90%), n8n automated alerting, multi-tenant portal, and interactive dashboard.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What’s In Scope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0540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delivers a complete multi-tenant analytics platform:</a:t>
            </a: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Kafka streaming ingestion + Spark medallion ETL (Bronze/Silver/Gold) orchestrated by Airflow</a:t>
            </a: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multi-tenant portal: registration, JWT auth, factory management, Excel upload</a:t>
            </a: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Spark MLlib / XGBoost models: price forecasting, demand forecasting, supplier risk scoring</a:t>
            </a: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 automated email alerting for KPI threshold breaches</a:t>
            </a:r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00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 (6 pages) for factory managers, admins, and executives</a:t>
            </a:r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Out of scope: live paid commodity-price APIs, native mobile apps, and direct ERP integration — identified as future work.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is a multi-tenant, end-to-end big data analytics platform unifying real-time streaming, batch ETL, ML, and automated alerting for Egyptian steel manufacturers.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platform: Kafka streaming pipeline + Spark/Airflow medallion ETL + 3 ML models + FastAPI portal + Streamlit dashboard + n8n alerting.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market &amp; telemetry ingestion, Bronze→Silver→Gold transformation, price/demand/risk predictions, self-service tenant onboarding, and instant email alerts.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spreadsheets, disconnected ERPs, or generic BI tools, FerroFlux combines streaming, domain-specific ML, multi-tenant isolation, and automated alerting in one open-source platform.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Enterprise-grade analytics (R²=0.9578 price forecasting, 100% precision supplier risk flagging) built entirely on open-source tools at near-zero deployment cost.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deployed multi-tenant portal, an interactive 6-page dashboard, 3 trained ML models, and an automated alert pipeline — reducing decision latency from days to minutes.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Technical architecture details (Kafka, Spark, Airflow, PostgreSQL) are presented in the next slide.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ArchitectureDiagram" descr="FerroFlux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841248"/>
            <a:ext cx="86868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follows a 5-layer architecture: Data Sources → Ingestion (Kafka) → Processing &amp; Analytics (Spark + Airflow + ML) → Storage &amp; Serving (PostgreSQL + FastAPI) → Visualization &amp; Alerting (Streamlit + n8n).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ANALYSIS And Design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"FerroFlux applied the full SDLC — from planning and analysis through design, implementation, testing, and zero-cost deployment on Hugging Face Spaces, </a:t>
            </a:r>
            <a:r>
              <a:rPr lang="en-US" sz="10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Streamlit</a:t>
            </a: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Cloud, and GitHub Pages."</a:t>
            </a: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12" name="image55.jpg" descr="A diagram of software development  Description automatically generated">
            <a:extLst>
              <a:ext uri="{FF2B5EF4-FFF2-40B4-BE49-F238E27FC236}">
                <a16:creationId xmlns:a16="http://schemas.microsoft.com/office/drawing/2014/main" id="{10D349AC-73D4-4EBB-B194-2175011E920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514600" y="927100"/>
            <a:ext cx="4114800" cy="32575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69322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68680"/>
            <a:ext cx="2743200" cy="384048"/>
          </a:xfrm>
          <a:prstGeom prst="rect">
            <a:avLst/>
          </a:prstGeom>
          <a:solidFill>
            <a:srgbClr val="1E5CA8"/>
          </a:solidFill>
          <a:ln w="12700">
            <a:solidFill>
              <a:srgbClr val="1E5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47472" y="128930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Streamlit, Plotly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868680"/>
            <a:ext cx="2743200" cy="38404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7355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273552" y="128930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FastAPI, Uvicorn, SQLAlchemy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8686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868680"/>
            <a:ext cx="2743200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99632" y="86868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99632" y="128930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PostgreSQL (Neon Cloud, serverless)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2788920"/>
            <a:ext cx="2743200" cy="38404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7472" y="27889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ML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47472" y="32095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Spark MLlib, XGBoost, Prophet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0" y="2788920"/>
            <a:ext cx="2743200" cy="384048"/>
          </a:xfrm>
          <a:prstGeom prst="rect">
            <a:avLst/>
          </a:prstGeom>
          <a:solidFill>
            <a:srgbClr val="7986CB"/>
          </a:solidFill>
          <a:ln w="12700">
            <a:solidFill>
              <a:srgbClr val="7986C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73552" y="27889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&amp; DevOps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73552" y="32095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Docker, Hugging Face Spaces, Streamlit Cloud, GitHub Pages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26480" y="278892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26480" y="2788920"/>
            <a:ext cx="274320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99632" y="2788920"/>
            <a:ext cx="259689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199632" y="3209544"/>
            <a:ext cx="2596896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(HMAC-SHA256), bcrypt password hashing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Requirements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FR1: Ingest real-time market prices and factory telemetry via Apache Kafka.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FR2: Transform raw data through Bronze → Silver → Gold (Spark + Airflow).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FR3: Allow companies to self-register and manage isolated factory workspaces.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FR4: Provide ML-based price, demand, and supplier risk predictions.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FR5: Dispatch automated email alerts on KPI threshold breaches (n8n).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Performance: dashboard loads &lt;3s for 100K rows; API responses &lt;500ms; ML inference &lt;1s.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Security: bcrypt password hashing, HMAC-SHA256 JWT, row-level company_id isolation.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Scalability: horizontal Spark workers; n8n handles 50+ concurrent threshold checks.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Availability: deployed on free-tier managed cloud (Hugging Face Spaces, Neon, Streamlit Cloud).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Usability: registration completable in &lt;3 minutes; responsive UI for screens ≥768px.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All FR1–FR5 and NFRs above were implemented, tested, and validated end-to-end.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/ Data Pipeline Diagram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BatchPipeline" descr="Batch ETL Pipeli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572" y="899748"/>
            <a:ext cx="7800000" cy="1606000"/>
          </a:xfrm>
          <a:prstGeom prst="rect">
            <a:avLst/>
          </a:prstGeom>
        </p:spPr>
      </p:pic>
      <p:pic>
        <p:nvPicPr>
          <p:cNvPr id="7" name="StreamingServing" descr="Streaming and Serving Pipel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572" y="2605748"/>
            <a:ext cx="7800000" cy="160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Top: Batch ETL pipeline (data sources → Bronze → Silver → Gold + ML). Bottom: Streaming pipeline (Kafka → streaming ETL → n8n alerts → dashboard).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Portal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[Portal screenshot — registration, login, factory overview, Excel upload]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[Streamlit dashboard — Executive Summary, Market Intelligence, Supplier Risk]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" y="3943096"/>
            <a:ext cx="4114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Landing page: Kafka + Spark medallion pipeline, Airflow orchestration, n8n alerting (3+1 layers, 11 services, 4 Kafka topics)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Login: 100% row-level tenant isolation via signed </a:t>
            </a:r>
            <a:r>
              <a:rPr 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company_id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tokens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Onboarding: Excel upload auto-triggers Airflow ETL run</a:t>
            </a:r>
          </a:p>
        </p:txBody>
      </p:sp>
      <p:sp>
        <p:nvSpPr>
          <p:cNvPr id="12" name="Text 9"/>
          <p:cNvSpPr/>
          <p:nvPr/>
        </p:nvSpPr>
        <p:spPr>
          <a:xfrm>
            <a:off x="4727448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Links: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27448" y="4041648"/>
            <a:ext cx="1063752" cy="675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4727448" y="4041648"/>
            <a:ext cx="18288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[QR 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Here]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75120" y="4160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Portal: [Hugging Face Spaces link]  |  Dashboard: [Streamlit Cloud link]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0" name="image45.png">
            <a:extLst>
              <a:ext uri="{FF2B5EF4-FFF2-40B4-BE49-F238E27FC236}">
                <a16:creationId xmlns:a16="http://schemas.microsoft.com/office/drawing/2014/main" id="{2C9DEBDC-6ADB-4878-BF35-FAEE0101F43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764786" y="860298"/>
            <a:ext cx="4069080" cy="2816352"/>
          </a:xfrm>
          <a:prstGeom prst="rect">
            <a:avLst/>
          </a:prstGeom>
          <a:ln/>
        </p:spPr>
      </p:pic>
      <p:pic>
        <p:nvPicPr>
          <p:cNvPr id="21" name="image38.png">
            <a:extLst>
              <a:ext uri="{FF2B5EF4-FFF2-40B4-BE49-F238E27FC236}">
                <a16:creationId xmlns:a16="http://schemas.microsoft.com/office/drawing/2014/main" id="{BB5F513D-8B5D-4E6E-A55A-4896CDECD95A}"/>
              </a:ext>
            </a:extLst>
          </p:cNvPr>
          <p:cNvPicPr/>
          <p:nvPr/>
        </p:nvPicPr>
        <p:blipFill rotWithShape="1">
          <a:blip r:embed="rId5"/>
          <a:srcRect r="1474"/>
          <a:stretch/>
        </p:blipFill>
        <p:spPr>
          <a:xfrm>
            <a:off x="301752" y="860298"/>
            <a:ext cx="4069080" cy="2816352"/>
          </a:xfrm>
          <a:prstGeom prst="rect">
            <a:avLst/>
          </a:prstGeom>
          <a:ln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6CA014-D4F3-480D-8BCD-0899CC9F6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030322"/>
            <a:ext cx="1114552" cy="6686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Portal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[Portal screenshot — registration, login, factory overview, Excel upload]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[Streamlit dashboard — Executive Summary, Market Intelligence, Supplier Risk]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5974" y="3985514"/>
            <a:ext cx="8571993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Tenant dashboard: live KPI overview per company (production, revenue, efficiency, orders)</a:t>
            </a:r>
          </a:p>
          <a:p>
            <a:pPr marL="342900" indent="-342900">
              <a:buSzPct val="100000"/>
              <a:buChar char="•"/>
            </a:pPr>
            <a:r>
              <a:rPr 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Streamlit</a:t>
            </a: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dashboard: 27.1M tons, 1383.6B EGP revenue, 95.8% on-time, with production &amp; regional demand charts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Supplier Risk Scorecard ranks suppliers by risk</a:t>
            </a:r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2" name="image19.png">
            <a:extLst>
              <a:ext uri="{FF2B5EF4-FFF2-40B4-BE49-F238E27FC236}">
                <a16:creationId xmlns:a16="http://schemas.microsoft.com/office/drawing/2014/main" id="{EBCAD8B1-C512-4895-B239-8B31FC885D8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1752" y="859536"/>
            <a:ext cx="4069080" cy="2816352"/>
          </a:xfrm>
          <a:prstGeom prst="rect">
            <a:avLst/>
          </a:prstGeom>
          <a:ln/>
        </p:spPr>
      </p:pic>
      <p:pic>
        <p:nvPicPr>
          <p:cNvPr id="23" name="image54.png">
            <a:extLst>
              <a:ext uri="{FF2B5EF4-FFF2-40B4-BE49-F238E27FC236}">
                <a16:creationId xmlns:a16="http://schemas.microsoft.com/office/drawing/2014/main" id="{B0BF5BF8-3B4D-4346-9E71-3E9981D57081}"/>
              </a:ext>
            </a:extLst>
          </p:cNvPr>
          <p:cNvPicPr/>
          <p:nvPr/>
        </p:nvPicPr>
        <p:blipFill>
          <a:blip r:embed="rId5"/>
          <a:srcRect t="10249" b="4555"/>
          <a:stretch>
            <a:fillRect/>
          </a:stretch>
        </p:blipFill>
        <p:spPr>
          <a:xfrm>
            <a:off x="4773168" y="884174"/>
            <a:ext cx="4069080" cy="281635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23467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Model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ArchitectureDiagram" descr="FerroFlux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86868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is designed as a multi-tenant SaaS: factories subscribe for real-time KPIs, ML forecasts, and automated alerts — deployed at near-zero infrastructure cost.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Competitive Landscape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ArchitectureDiagram" descr="FerroFlux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868680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outperforms manual tracking, generic BI tools, and enterprise ERPs on real-time data, AI forecasting, multi-tenant isolation, automated alerting, onboarding, and cost — at a fraction of the cost.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Demo to Production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ArchitectureDiagram" descr="FerroFlux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868680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FerroFlux's pipeline is built so a real factory only needs to swap its data source from CSV/simulated to ERP, SCADA, or GPS — the rest of the pipeline runs unchanged.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Opportunity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ArchitectureDiagram" descr="FerroFlux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41248"/>
            <a:ext cx="8686800" cy="35339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$58.1B global market by 2030, with an immediate, addressable foothold among Egypt's mid-size steel producers.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ROI — The Business Case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pic>
        <p:nvPicPr>
          <p:cNvPr id="6" name="ArchitectureDiagram" descr="FerroFlux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13816"/>
            <a:ext cx="8686800" cy="35740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315968"/>
            <a:ext cx="8412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FerroFlux's ML models translate directly into measurable procurement, inventory, and risk-management savings.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Portal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[Portal screenshot — registration, login, factory overview, Excel upload]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[Streamlit dashboard — Executive Summary, Market Intelligence, Supplier Risk]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3954780"/>
            <a:ext cx="4288536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Supplier Risk Scorecard (AI): ranks suppliers by risk score, with regional demand heatmap and 30-day AI price forecast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Production Analytics: efficiency by line, output by facility (ALEX/SUEZ/SADAT), and energy consumption</a:t>
            </a:r>
          </a:p>
        </p:txBody>
      </p:sp>
      <p:sp>
        <p:nvSpPr>
          <p:cNvPr id="12" name="Text 9"/>
          <p:cNvSpPr/>
          <p:nvPr/>
        </p:nvSpPr>
        <p:spPr>
          <a:xfrm>
            <a:off x="4727448" y="376732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Links: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70450" y="4041648"/>
            <a:ext cx="10287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4727448" y="4041648"/>
            <a:ext cx="18288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[QR Code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Here]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75120" y="4160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Portal: [Hugging Face Spaces link]  |  Dashboard: [Streamlit Cloud link]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1" name="image27.png">
            <a:extLst>
              <a:ext uri="{FF2B5EF4-FFF2-40B4-BE49-F238E27FC236}">
                <a16:creationId xmlns:a16="http://schemas.microsoft.com/office/drawing/2014/main" id="{FE05DC78-374E-4FEE-8634-697F693569E6}"/>
              </a:ext>
            </a:extLst>
          </p:cNvPr>
          <p:cNvPicPr/>
          <p:nvPr/>
        </p:nvPicPr>
        <p:blipFill>
          <a:blip r:embed="rId4"/>
          <a:srcRect t="9519" b="4327"/>
          <a:stretch>
            <a:fillRect/>
          </a:stretch>
        </p:blipFill>
        <p:spPr>
          <a:xfrm>
            <a:off x="274320" y="868680"/>
            <a:ext cx="4069080" cy="2816352"/>
          </a:xfrm>
          <a:prstGeom prst="rect">
            <a:avLst/>
          </a:prstGeom>
          <a:ln/>
        </p:spPr>
      </p:pic>
      <p:pic>
        <p:nvPicPr>
          <p:cNvPr id="24" name="image20.png">
            <a:extLst>
              <a:ext uri="{FF2B5EF4-FFF2-40B4-BE49-F238E27FC236}">
                <a16:creationId xmlns:a16="http://schemas.microsoft.com/office/drawing/2014/main" id="{C15BE53E-B6AF-49C1-9C43-7920C53FCE0D}"/>
              </a:ext>
            </a:extLst>
          </p:cNvPr>
          <p:cNvPicPr/>
          <p:nvPr/>
        </p:nvPicPr>
        <p:blipFill>
          <a:blip r:embed="rId5"/>
          <a:srcRect t="10012" b="6052"/>
          <a:stretch>
            <a:fillRect/>
          </a:stretch>
        </p:blipFill>
        <p:spPr>
          <a:xfrm>
            <a:off x="4773168" y="862076"/>
            <a:ext cx="4069080" cy="2816352"/>
          </a:xfrm>
          <a:prstGeom prst="rect">
            <a:avLst/>
          </a:prstGeom>
          <a:ln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BE54CD5-495F-4D76-B522-C473414570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0450" y="4045416"/>
            <a:ext cx="1028700" cy="70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51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 &amp; Demo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347472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FerroFlux Portal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[Portal screenshot — registration, login, factory overview, Excel upload]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27448" y="841248"/>
            <a:ext cx="416052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18888" y="868680"/>
            <a:ext cx="3977640" cy="2834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[Streamlit dashboard — Executive Summary, Market Intelligence, Supplier Risk]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3767328"/>
            <a:ext cx="41605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highlights from the demo: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0896" y="4114800"/>
            <a:ext cx="8577072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Orders &amp; Demand: revenue by governorate, products by region, and AI demand forecast by product</a:t>
            </a:r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Supplier Risk Assessment: multi-factor radar (quality, price, on-time, safety) with ranked risk table by supplier</a:t>
            </a:r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  <p:pic>
        <p:nvPicPr>
          <p:cNvPr id="22" name="image14.png">
            <a:extLst>
              <a:ext uri="{FF2B5EF4-FFF2-40B4-BE49-F238E27FC236}">
                <a16:creationId xmlns:a16="http://schemas.microsoft.com/office/drawing/2014/main" id="{44332B1B-FCEF-4702-9488-FE1DC62614F7}"/>
              </a:ext>
            </a:extLst>
          </p:cNvPr>
          <p:cNvPicPr/>
          <p:nvPr/>
        </p:nvPicPr>
        <p:blipFill>
          <a:blip r:embed="rId4"/>
          <a:srcRect t="9418" b="5540"/>
          <a:stretch>
            <a:fillRect/>
          </a:stretch>
        </p:blipFill>
        <p:spPr>
          <a:xfrm>
            <a:off x="301752" y="859536"/>
            <a:ext cx="4069080" cy="2816352"/>
          </a:xfrm>
          <a:prstGeom prst="rect">
            <a:avLst/>
          </a:prstGeom>
          <a:ln/>
        </p:spPr>
      </p:pic>
      <p:pic>
        <p:nvPicPr>
          <p:cNvPr id="23" name="image3.png">
            <a:extLst>
              <a:ext uri="{FF2B5EF4-FFF2-40B4-BE49-F238E27FC236}">
                <a16:creationId xmlns:a16="http://schemas.microsoft.com/office/drawing/2014/main" id="{3253AC0F-31AD-465A-A1F6-A3D2134CDA11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773168" y="868680"/>
            <a:ext cx="4069080" cy="281635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75213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Key Performance Indicators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2011680" cy="64008"/>
          </a:xfrm>
          <a:prstGeom prst="rect">
            <a:avLst/>
          </a:prstGeom>
          <a:solidFill>
            <a:srgbClr val="1E5CA8"/>
          </a:solidFill>
          <a:ln w="12700">
            <a:solidFill>
              <a:srgbClr val="1E5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91440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95.78%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01752" y="1755648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/ Performance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Forecast R² (MAPE=1.61%)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841248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841248"/>
            <a:ext cx="2011680" cy="64008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91440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A8F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8,400+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2496312" y="1755648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/ Records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records (3 tenants)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45152" y="841248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45152" y="841248"/>
            <a:ext cx="2011680" cy="640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45152" y="91440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&lt;2s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4690872" y="1755648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query latency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39712" y="841248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39712" y="841248"/>
            <a:ext cx="201168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914400"/>
            <a:ext cx="2011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8A8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885432" y="1755648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on HIGH-risk suppliers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6032" y="2633472"/>
            <a:ext cx="8641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320040" y="2660904"/>
            <a:ext cx="8503920" cy="18653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performance summary: Price Forecasting R²=0.9578 / MAPE=1.61% — Demand Forecasting R²=0.8030 / MAPE=35.74% — Supplier Risk Accuracy=94.78%, Precision(HIGH)=100%, Recall(HIGH)=89.5%</a:t>
            </a:r>
            <a:endParaRPr lang="en-US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Impact &amp; Innovation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Solves fragmented, manual supply chain data management for Egyptian steel manufacturers — benefiting factory operators, procurement managers, and executives.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Economic: near-zero deployment cost on open-source/free-tier infrastructure. Technical: production-grade medallion architecture with 3 deployed ML models. Social: brings modern data engineering to an underserved industrial sector.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SAP IBP (enterprise, costly) or Tableau+Excel (the current norm), FerroFlux uniquely combines real-time streaming, domain-specific ML, multi-tenant isolation, and automated alerting in one open-source platform.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supports Egypt Vision 2030's Industry 4.0 and digital manufacturing priorities by making advanced analytics accessible to mid-size manufacturers.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Multi-tenant architecture enables onboarding additional steel producers with zero rework; future work includes live price feeds, LSTM forecasting, and Arabic UI.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FerroFlux demonstrates that DiGiLiANS-trained engineers can deliver production-grade big data platforms addressing real national industrial priorities.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3" name="TitleBar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4" name="TitleText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</a:rPr>
              <a:t>Future Work</a:t>
            </a:r>
          </a:p>
        </p:txBody>
      </p:sp>
      <p:pic>
        <p:nvPicPr>
          <p:cNvPr id="5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ubtitle"/>
          <p:cNvSpPr/>
          <p:nvPr/>
        </p:nvSpPr>
        <p:spPr>
          <a:xfrm>
            <a:off x="256032" y="768096"/>
            <a:ext cx="8616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7474F"/>
                </a:solidFill>
                <a:latin typeface="Calibri" panose="020F0502020204030204" pitchFamily="34" charset="0"/>
              </a:rPr>
              <a:t>Planned enhancements for future development iterations:</a:t>
            </a:r>
          </a:p>
        </p:txBody>
      </p:sp>
      <p:sp>
        <p:nvSpPr>
          <p:cNvPr id="10" name="CardA"/>
          <p:cNvSpPr/>
          <p:nvPr/>
        </p:nvSpPr>
        <p:spPr>
          <a:xfrm>
            <a:off x="256032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rdAAccent"/>
          <p:cNvSpPr/>
          <p:nvPr/>
        </p:nvSpPr>
        <p:spPr>
          <a:xfrm>
            <a:off x="256032" y="987552"/>
            <a:ext cx="2743200" cy="54864"/>
          </a:xfrm>
          <a:prstGeom prst="rect">
            <a:avLst/>
          </a:prstGeom>
          <a:solidFill>
            <a:srgbClr val="00AEEF"/>
          </a:solidFill>
          <a:ln w="0">
            <a:noFill/>
          </a:ln>
        </p:spPr>
      </p:sp>
      <p:sp>
        <p:nvSpPr>
          <p:cNvPr id="12" name="CardAText"/>
          <p:cNvSpPr/>
          <p:nvPr/>
        </p:nvSpPr>
        <p:spPr>
          <a:xfrm>
            <a:off x="301752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AEEF"/>
                </a:solidFill>
                <a:latin typeface="Calibri" panose="020F0502020204030204" pitchFamily="34" charset="0"/>
              </a:rPr>
              <a:t>Performance &amp; Optimization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Improve system speed and efficiency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Evaluate LSTM/Transformer models for price forecasting on 5+ years of price data</a:t>
            </a:r>
          </a:p>
        </p:txBody>
      </p:sp>
      <p:sp>
        <p:nvSpPr>
          <p:cNvPr id="20" name="CardB"/>
          <p:cNvSpPr/>
          <p:nvPr/>
        </p:nvSpPr>
        <p:spPr>
          <a:xfrm>
            <a:off x="3108456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CardBAccent"/>
          <p:cNvSpPr/>
          <p:nvPr/>
        </p:nvSpPr>
        <p:spPr>
          <a:xfrm>
            <a:off x="3108456" y="987552"/>
            <a:ext cx="2743200" cy="54864"/>
          </a:xfrm>
          <a:prstGeom prst="rect">
            <a:avLst/>
          </a:prstGeom>
          <a:solidFill>
            <a:srgbClr val="1E5CA8"/>
          </a:solidFill>
          <a:ln w="0">
            <a:noFill/>
          </a:ln>
        </p:spPr>
      </p:sp>
      <p:sp>
        <p:nvSpPr>
          <p:cNvPr id="22" name="CardBText"/>
          <p:cNvSpPr/>
          <p:nvPr/>
        </p:nvSpPr>
        <p:spPr>
          <a:xfrm>
            <a:off x="3154176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5CA8"/>
                </a:solidFill>
                <a:latin typeface="Calibri" panose="020F0502020204030204" pitchFamily="34" charset="0"/>
              </a:rPr>
              <a:t>Feature Enhancement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Expand based on user feedback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Add Arabic-language UI for the portal and dashboard alert messages</a:t>
            </a:r>
          </a:p>
        </p:txBody>
      </p:sp>
      <p:sp>
        <p:nvSpPr>
          <p:cNvPr id="30" name="CardC"/>
          <p:cNvSpPr/>
          <p:nvPr/>
        </p:nvSpPr>
        <p:spPr>
          <a:xfrm>
            <a:off x="5960880" y="987552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CardCAccent"/>
          <p:cNvSpPr/>
          <p:nvPr/>
        </p:nvSpPr>
        <p:spPr>
          <a:xfrm>
            <a:off x="5960880" y="987552"/>
            <a:ext cx="2743200" cy="54864"/>
          </a:xfrm>
          <a:prstGeom prst="rect">
            <a:avLst/>
          </a:prstGeom>
          <a:solidFill>
            <a:srgbClr val="C8A84B"/>
          </a:solidFill>
          <a:ln w="0">
            <a:noFill/>
          </a:ln>
        </p:spPr>
      </p:sp>
      <p:sp>
        <p:nvSpPr>
          <p:cNvPr id="32" name="CardCText"/>
          <p:cNvSpPr/>
          <p:nvPr/>
        </p:nvSpPr>
        <p:spPr>
          <a:xfrm>
            <a:off x="6006600" y="1005840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A84B"/>
                </a:solidFill>
                <a:latin typeface="Calibri" panose="020F0502020204030204" pitchFamily="34" charset="0"/>
              </a:rPr>
              <a:t>Testing &amp; Validation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Conduct broader user / field testing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Expand usability testing with more factory operators across product lines</a:t>
            </a:r>
          </a:p>
        </p:txBody>
      </p:sp>
      <p:sp>
        <p:nvSpPr>
          <p:cNvPr id="40" name="CardD"/>
          <p:cNvSpPr/>
          <p:nvPr/>
        </p:nvSpPr>
        <p:spPr>
          <a:xfrm>
            <a:off x="256032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CardDAccent"/>
          <p:cNvSpPr/>
          <p:nvPr/>
        </p:nvSpPr>
        <p:spPr>
          <a:xfrm>
            <a:off x="256032" y="2706624"/>
            <a:ext cx="2743200" cy="54864"/>
          </a:xfrm>
          <a:prstGeom prst="rect">
            <a:avLst/>
          </a:prstGeom>
          <a:solidFill>
            <a:srgbClr val="3A8FD4"/>
          </a:solidFill>
          <a:ln w="0">
            <a:noFill/>
          </a:ln>
        </p:spPr>
      </p:sp>
      <p:sp>
        <p:nvSpPr>
          <p:cNvPr id="42" name="CardDText"/>
          <p:cNvSpPr/>
          <p:nvPr/>
        </p:nvSpPr>
        <p:spPr>
          <a:xfrm>
            <a:off x="301752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8FD4"/>
                </a:solidFill>
                <a:latin typeface="Calibri" panose="020F0502020204030204" pitchFamily="34" charset="0"/>
              </a:rPr>
              <a:t>Integration &amp; Deployment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Connect with external systems or APIs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Integrate a live steel exchange price feed and an ERP adapter (e.g., Microsoft Dynamics NAV)</a:t>
            </a:r>
          </a:p>
        </p:txBody>
      </p:sp>
      <p:sp>
        <p:nvSpPr>
          <p:cNvPr id="50" name="CardE"/>
          <p:cNvSpPr/>
          <p:nvPr/>
        </p:nvSpPr>
        <p:spPr>
          <a:xfrm>
            <a:off x="3108456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CardEAccent"/>
          <p:cNvSpPr/>
          <p:nvPr/>
        </p:nvSpPr>
        <p:spPr>
          <a:xfrm>
            <a:off x="3108456" y="2706624"/>
            <a:ext cx="2743200" cy="54864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</p:sp>
      <p:sp>
        <p:nvSpPr>
          <p:cNvPr id="52" name="CardEText"/>
          <p:cNvSpPr/>
          <p:nvPr/>
        </p:nvSpPr>
        <p:spPr>
          <a:xfrm>
            <a:off x="3154176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  <a:latin typeface="Calibri" panose="020F0502020204030204" pitchFamily="34" charset="0"/>
              </a:rPr>
              <a:t>Scale &amp; Wider Reach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Deploy to a broader user base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Build a mobile-responsive portal UI for factory-floor managers</a:t>
            </a:r>
          </a:p>
        </p:txBody>
      </p:sp>
      <p:sp>
        <p:nvSpPr>
          <p:cNvPr id="60" name="CardF"/>
          <p:cNvSpPr/>
          <p:nvPr/>
        </p:nvSpPr>
        <p:spPr>
          <a:xfrm>
            <a:off x="5960880" y="2706624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</a:ln>
          <a:effectLst>
            <a:outerShdw blurRad="50800" dist="18288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CardFAccent"/>
          <p:cNvSpPr/>
          <p:nvPr/>
        </p:nvSpPr>
        <p:spPr>
          <a:xfrm>
            <a:off x="5960880" y="2706624"/>
            <a:ext cx="2743200" cy="54864"/>
          </a:xfrm>
          <a:prstGeom prst="rect">
            <a:avLst/>
          </a:prstGeom>
          <a:solidFill>
            <a:srgbClr val="1A2D5A"/>
          </a:solidFill>
          <a:ln w="0">
            <a:noFill/>
          </a:ln>
        </p:spPr>
      </p:sp>
      <p:sp>
        <p:nvSpPr>
          <p:cNvPr id="62" name="CardFText"/>
          <p:cNvSpPr/>
          <p:nvPr/>
        </p:nvSpPr>
        <p:spPr>
          <a:xfrm>
            <a:off x="6006600" y="2724912"/>
            <a:ext cx="2652480" cy="1609344"/>
          </a:xfrm>
          <a:prstGeom prst="rect">
            <a:avLst/>
          </a:prstGeom>
          <a:noFill/>
        </p:spPr>
        <p:txBody>
          <a:bodyPr wrap="square" lIns="91440" tIns="91440" rIns="91440" bIns="4572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D5A"/>
                </a:solidFill>
                <a:latin typeface="Calibri" panose="020F0502020204030204" pitchFamily="34" charset="0"/>
              </a:rPr>
              <a:t>Research &amp; Impact</a:t>
            </a:r>
          </a:p>
          <a:p>
            <a:pPr marL="228600" indent="-228600" algn="l">
              <a:spcBef>
                <a:spcPts val="4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Publish findings or open-source the work</a:t>
            </a:r>
          </a:p>
          <a:p>
            <a:pPr marL="228600" indent="-228600" algn="l">
              <a:spcBef>
                <a:spcPts val="300"/>
              </a:spcBef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 panose="020F0502020204030204" pitchFamily="34" charset="0"/>
              </a:rPr>
              <a:t>Expand role-based access control: analyst, auditor, and supplier-facing roles</a:t>
            </a:r>
          </a:p>
        </p:txBody>
      </p:sp>
      <p:sp>
        <p:nvSpPr>
          <p:cNvPr id="70" name="FooterBar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</a:ln>
        </p:spPr>
      </p:sp>
      <p:sp>
        <p:nvSpPr>
          <p:cNvPr id="71" name="FooterText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</a:rPr>
              <a:t>DiGiLiANS — Digital Pioneers Initiative  |  Capstone Project Defense 2026</a:t>
            </a:r>
          </a:p>
        </p:txBody>
      </p:sp>
      <p:sp>
        <p:nvSpPr>
          <p:cNvPr id="72" name="FooterNum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</a:rPr>
              <a:t>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86410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14400"/>
            <a:ext cx="832104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Maram Mostafa —</a:t>
            </a:r>
            <a:r>
              <a:rPr lang="en-US" sz="1400" dirty="0" err="1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dashboard, testing coordination, and documentation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Nourhan Saber Shalaby —Price &amp; demand forecasting, Supplier risk classification and </a:t>
            </a:r>
            <a:r>
              <a:rPr lang="en-US" sz="1400" dirty="0" err="1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endpoints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Hager Elkahlawy — Apache Airflow DAGs (ETL Orchestration)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Haidy Nageh — Spark medallion ETL (Silver/Gold)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Zeinab Elgabalawy — Kafka producers and Bronze-layer ingestion 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members participated in: planning, code reviews, testing, and final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Roles map directly to the methodology and Team Roles table in the project documentation.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49808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&amp; Resources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64008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41248"/>
            <a:ext cx="64008" cy="38404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&amp; Technical References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207008"/>
            <a:ext cx="3840480" cy="22860"/>
          </a:xfrm>
          <a:prstGeom prst="rect">
            <a:avLst/>
          </a:prstGeom>
          <a:solidFill>
            <a:srgbClr val="3A8FD4"/>
          </a:solidFill>
          <a:ln w="12700">
            <a:solidFill>
              <a:srgbClr val="3A8F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Dean &amp; Ghemawat (2008) — MapReduce: Simplified Data Processing on Large Clusters. CACM.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Chen &amp; Guestrin (2016) — XGBoost: A Scalable Tree Boosting System. ACM SIGKDD.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Taylor &amp; Letham (2018) — Forecasting at Scale (Prophet). The American Statistician.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Databricks (2023) — Medallion Architecture: A Data Design Pattern for Lakehouses.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7448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841248"/>
            <a:ext cx="64008" cy="384048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85953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C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Tools, Datasets &amp; Repositories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92040" y="1207008"/>
            <a:ext cx="3840480" cy="2286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1261872"/>
            <a:ext cx="3840480" cy="3200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Repository: [Insert FerroFlux repository link]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Simulated steel/scrap market prices (24 months) &amp; factory order data (~8,400 records, 3 tenants)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Services: Hugging Face Spaces (portal), Streamlit Community Cloud (dashboard), Neon (PostgreSQL)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 Docs: Apache Kafka, Apache Spark, Apache Airflow, FastAPI, Streamlit, n8n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Full reference list (17 sources) is available in the project documentation.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7160" y="48097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686800" y="4809744"/>
            <a:ext cx="365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82880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37160"/>
            <a:ext cx="1188720" cy="10058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28600"/>
            <a:ext cx="1371600" cy="73152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228600" y="1234440"/>
            <a:ext cx="8686800" cy="2286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74320" y="1601470"/>
            <a:ext cx="8595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274320" y="2331720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solidFill>
            <a:srgbClr val="0D1F3F"/>
          </a:solidFill>
          <a:ln w="10160">
            <a:solidFill>
              <a:srgbClr val="00AEEF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11" name="Shape 6"/>
          <p:cNvSpPr/>
          <p:nvPr/>
        </p:nvSpPr>
        <p:spPr>
          <a:xfrm>
            <a:off x="1371600" y="2926080"/>
            <a:ext cx="64008" cy="13716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554480" y="2980944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Name:      FerroFlux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554480" y="3401568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Track:               AI — Big Data Engineering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554480" y="382219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AE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/ Demo: [Insert GitHub repository / Portal / Dashboard links]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DiGiLiANS — Digital Pioneers Initiative  |  Capstone Project Defense 2026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28.87999999999997,&quot;left&quot;:118.8,&quot;top&quot;:228.95999999999998,&quot;width&quot;:48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2538</Words>
  <Application>Microsoft Office PowerPoint</Application>
  <PresentationFormat>On-screen Show (16:9)</PresentationFormat>
  <Paragraphs>297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Presentation Template</dc:title>
  <dc:subject>PptxGenJS Presentation</dc:subject>
  <dc:creator>DiGiLiANS</dc:creator>
  <cp:lastModifiedBy>نورهان صابر صابر محمدى شلبى</cp:lastModifiedBy>
  <cp:revision>15</cp:revision>
  <dcterms:created xsi:type="dcterms:W3CDTF">2026-06-07T13:30:00Z</dcterms:created>
  <dcterms:modified xsi:type="dcterms:W3CDTF">2026-06-16T06:38:04Z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B353FF1D6D0E4D418372BC5CD770DCBE_12</vt:lpwstr>
  </property>
  <property fmtid="{D5CDD505-2E9C-101B-9397-08002B2CF9AE}" pid="3" name="KSOProductBuildVer">
    <vt:lpwstr>2057-12.2.0.23202</vt:lpwstr>
  </property>
</Properties>
</file>